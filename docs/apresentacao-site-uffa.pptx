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99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documento apresenta o site UFFA Store como experiência completa: marca, descoberta, compra, pós-compra e operação. A apresentação anterior aprofundou o portal; esta mostra o percurso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Enquadrar a loja: não é um catálogo infinito. É uma seleção curta, com verificação, recolha no Porto e uma camada de pós-compra que prolonga a relação. Os três pilares são curadoria, Porto e pós-compra.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 home: hero com promessa e CTA, faixa de confiança, quatro categorias, produtos em destaque, bloco do portal e newsletter. A hierarquia leva o visitante da marca à compra e da compra ao acompanhamento.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catálogo: filtros por linha, tamanho e preço, pesquisa e cartões com informação essencial. Destacar que o selo VERIFICADO aparece antes de abrir o produto e que o layout mobile mantém os filtros utilizáveis.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Entrar no produto: galeria, rotação 360°, seleção de tamanho com stock, descrição, preço e garantias. O objetivo é responder às dúvidas todas antes do carrinho. A recolha gratuita e a política de trocas são visíveis sem abrir menus.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carrinho lateral: mostra itens, tamanhos, quantidades e subtotal. A alteração é imediata e o CTA leva ao checkout. O carrinho é uma camada, não uma página — o cliente não perde o contexto da loja.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checkout em três blocos: entrega, dados e pagamento. Recolha gratuita ou envio por sete euros. Não há criação de conta. O pagamento é simulado na demo, mas o fluxo e a confirmação são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confirmação é o início do pós-compra. Mostra o número, o código exclusivo, o rastreio e os códigos de autenticidade. O cliente não precisa de criar conta: guarda o código e entra no portal com três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portal: acesso por três fatores, estado, timeline, previsão, transportador e confirmação final. A recolha tem um fluxo próprio, mais curto. O portal é a continuação natural da confirmação.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autenticidade é a camada que transforma exclusividade em confiança. Cada par tem um código e um número de série. A verificação é pública, mas não expõe dados do comprador. O resultado inválido também é claro e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painel de operações fecha o ciclo. A equipa vê indicadores, pesquisa, filtra e edita a encomenda. O botão de avançar mantém o fluxo correto. Tudo o que é alterado aparece no portal do cliente. A chave demo é UFFA-OPS-2026.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as três capturas mobile: home, catálogo e produto. O site foi validado a 390 px. A navegação, os filtros, a galeria e o checkout adaptam-se sem perder a identidade. O portal e o painel também são responsivos.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demonstração de produção. A demo corre no browser com dados locais e permitiu validar a experiência. Em produção, a mesma interface passa a falar com uma API e PostgreSQL, com RLS, pagamentos reais, emails, transportador e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Repetir a mensagem: o site UFFA Store cobre a jornada completa, da marca à operação. Convidar a equipa a percorrer o percurso sugerido em localhost:8080. O painel usa a chave UFFA-OPS-2026.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kern="0" spc="24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PORTO  ·  SNEAKERS VERIFICADOS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6000" kern="0" spc="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UFFA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1938528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6000" kern="0" spc="100" dirty="0">
                <a:solidFill>
                  <a:srgbClr val="C97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site.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D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home ao checkout. Do par à prova de autenticidade. Uma experiência completa para quem </a:t>
            </a:r>
            <a:r>
              <a:rPr lang="en-US" sz="1250" dirty="0" err="1">
                <a:solidFill>
                  <a:srgbClr val="E8D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</a:t>
            </a:r>
            <a:r>
              <a:rPr lang="en-US" sz="1250" dirty="0">
                <a:solidFill>
                  <a:srgbClr val="E8D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8580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8C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Documentação e demonstração  · 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223760" y="411480"/>
            <a:ext cx="4526280" cy="603504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1" name="Image 0" descr="C:\Users\devel\Downloads\uffastore.pt\uffa\src\assets\e44536b4-0486-4401-9327-8f300ee1171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3488" y="521208"/>
            <a:ext cx="4306824" cy="58155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18120" y="5669280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7818120" y="566928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PORTO ROSE LOW  ·  129 €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POSICIONAMENTO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Uma loja, não um catálogo.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682496"/>
            <a:ext cx="384048" cy="384048"/>
          </a:xfrm>
          <a:prstGeom prst="ellipse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640080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Curadoria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9019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Oito pares, quatro linhas. Cada par é escolhido e verificado antes de entrar.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384048" cy="384048"/>
          </a:xfrm>
          <a:prstGeom prst="ellipse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64008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1363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Recolha gratuita em mãos. A loja física faz parte da experiência digital.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384048" cy="384048"/>
          </a:xfrm>
          <a:prstGeom prst="ellipse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40080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Pós-compra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3708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Portal, autenticidade e operação no mesmo sistema, sem depender de emails soltos.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080760" y="1600200"/>
            <a:ext cx="5468112" cy="2889504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1" name="Image 0" descr="C:\Users\devel\Downloads\uffastore.pt\uffa\docs\assets\screenshots\23-home-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1908" y="1641348"/>
            <a:ext cx="5385816" cy="28072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080760" y="4544568"/>
            <a:ext cx="5468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· hero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080760" y="4800600"/>
            <a:ext cx="5468112" cy="1234440"/>
          </a:xfrm>
          <a:prstGeom prst="roundRect">
            <a:avLst>
              <a:gd name="adj" fmla="val 3704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1"/>
          <p:cNvSpPr/>
          <p:nvPr/>
        </p:nvSpPr>
        <p:spPr>
          <a:xfrm>
            <a:off x="635508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SEM DÚVIDAS. SÓ ESTILO.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355080" y="5440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CB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promessa da marca em três palavras — e em cada ecrã.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HOME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marca em primeiro.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486400" cy="2898648"/>
          </a:xfrm>
          <a:prstGeom prst="roundRect">
            <a:avLst>
              <a:gd name="adj" fmla="val 94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23-home-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549908"/>
            <a:ext cx="5404104" cy="2816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4622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· promessa e CTA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0080" y="4709160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868680" y="49194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home não mostra tudo.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52303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7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Mostra o próximo passo.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56235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CB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→ categorias → mais procurados → portal → newsletter. Cada bloco tem uma função.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0" y="1508760"/>
            <a:ext cx="5138928" cy="233172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6" name="Image 1" descr="C:\Users\devel\Downloads\uffastore.pt\uffa\docs\assets\screenshots\24-home-categoria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1948" y="1549908"/>
            <a:ext cx="5056632" cy="22494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3895344"/>
            <a:ext cx="5138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Categorias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400800" y="4069080"/>
            <a:ext cx="5138928" cy="196596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9" name="Image 2" descr="C:\Users\devel\Downloads\uffastore.pt\uffa\docs\assets\screenshots\25-home-pick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41948" y="4110228"/>
            <a:ext cx="5056632" cy="18836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6089904"/>
            <a:ext cx="5138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 procurados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CATÁLOGO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Encontrar o par certo.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3886200" cy="4681728"/>
          </a:xfrm>
          <a:prstGeom prst="roundRect">
            <a:avLst>
              <a:gd name="adj" fmla="val 70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03-cata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549908"/>
            <a:ext cx="3803904" cy="45994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83480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que ajudam a decidir.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983480" y="21762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5184648" y="2103120"/>
            <a:ext cx="61996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Linha, tamanho e preço máximo no mesmo painel.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83480" y="2889504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5184648" y="2816352"/>
            <a:ext cx="61996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Pesquisa instantânea por nome, sem recarregar a página.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83480" y="360273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/>
          <p:nvPr/>
        </p:nvSpPr>
        <p:spPr>
          <a:xfrm>
            <a:off x="5184648" y="3529584"/>
            <a:ext cx="61996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Cartões com preço, categoria e selo de verificação.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83480" y="4315968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5184648" y="4242816"/>
            <a:ext cx="61996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mobile, os filtros empilham e continuam ao alcance.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83480" y="4983480"/>
            <a:ext cx="6355080" cy="1051560"/>
          </a:xfrm>
          <a:prstGeom prst="roundRect">
            <a:avLst>
              <a:gd name="adj" fmla="val 4348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7"/>
          <p:cNvSpPr/>
          <p:nvPr/>
        </p:nvSpPr>
        <p:spPr>
          <a:xfrm>
            <a:off x="5212080" y="51663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cliente não procura um catálogo.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212080" y="54681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CB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Procura o par certo — e quer saber se está disponível.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PRODUTO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decisão acontece aqui.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394960" cy="4645152"/>
          </a:xfrm>
          <a:prstGeom prst="roundRect">
            <a:avLst>
              <a:gd name="adj" fmla="val 591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04-produt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549908"/>
            <a:ext cx="5312664" cy="45628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5508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o que decide a compra.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55080" y="21762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556248" y="2103120"/>
            <a:ext cx="48280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Galeria com rotação 360° e várias perspetivas.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55080" y="2926080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6556248" y="2852928"/>
            <a:ext cx="48280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Tamanhos com stock em tempo real.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55080" y="3675888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/>
          <p:nvPr/>
        </p:nvSpPr>
        <p:spPr>
          <a:xfrm>
            <a:off x="6556248" y="3602736"/>
            <a:ext cx="48280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Preço, descrição e selo de autenticidade.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55080" y="442569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556248" y="4352544"/>
            <a:ext cx="48280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Recolha grátis no Porto e sem trocas nem devoluções.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55080" y="5074920"/>
            <a:ext cx="4983480" cy="960120"/>
          </a:xfrm>
          <a:prstGeom prst="roundRect">
            <a:avLst>
              <a:gd name="adj" fmla="val 4762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7"/>
          <p:cNvSpPr/>
          <p:nvPr/>
        </p:nvSpPr>
        <p:spPr>
          <a:xfrm>
            <a:off x="6537960" y="5285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produto. Todas as respostas.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37960" y="55595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Adicionar ao carrinho sem sair da página.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CARRINHO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 último empurrão.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2606040" cy="4425696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22-cart-draw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613916"/>
            <a:ext cx="2523744" cy="4343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605332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Carrinho lateral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474720" y="1728216"/>
            <a:ext cx="384048" cy="38404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3474720" y="1728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0" y="1691640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23360" y="194767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Produto, tamanho, quantidade e preço.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3474720" y="2825496"/>
            <a:ext cx="384048" cy="38404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/>
          <p:nvPr/>
        </p:nvSpPr>
        <p:spPr>
          <a:xfrm>
            <a:off x="347472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023360" y="2788920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023360" y="304495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Alterar quantidades ou remover sem sair da loja.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3474720" y="3922776"/>
            <a:ext cx="384048" cy="38404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7"/>
          <p:cNvSpPr/>
          <p:nvPr/>
        </p:nvSpPr>
        <p:spPr>
          <a:xfrm>
            <a:off x="347472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023360" y="3886200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Finalizar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023360" y="414223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Subtotal claro e um único CTA para o checkout.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3474720" y="5074920"/>
            <a:ext cx="7726680" cy="960120"/>
          </a:xfrm>
          <a:prstGeom prst="roundRect">
            <a:avLst>
              <a:gd name="adj" fmla="val 4762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1"/>
          <p:cNvSpPr/>
          <p:nvPr/>
        </p:nvSpPr>
        <p:spPr>
          <a:xfrm>
            <a:off x="3703320" y="52578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carrinho não interrompe a navegação.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703320" y="555955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CB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Abre, ajusta e volta. Sem perder o contexto.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CHECKOUT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Três decisões. Zero fricção.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577840" cy="4507992"/>
          </a:xfrm>
          <a:prstGeom prst="roundRect">
            <a:avLst>
              <a:gd name="adj" fmla="val 609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05-checkou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549908"/>
            <a:ext cx="5495544" cy="44256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37960" y="1682496"/>
            <a:ext cx="384048" cy="384048"/>
          </a:xfrm>
          <a:prstGeom prst="ellipse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6537960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86600" y="1645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86600" y="19019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Recolha grátis no Porto ou envio por 7 €.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6537960" y="2761488"/>
            <a:ext cx="384048" cy="384048"/>
          </a:xfrm>
          <a:prstGeom prst="ellipse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653796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86600" y="2724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86600" y="298094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Nome e email/telefone. Sem criar conta.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6537960" y="3840480"/>
            <a:ext cx="384048" cy="384048"/>
          </a:xfrm>
          <a:prstGeom prst="ellipse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653796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86600" y="38039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Pagamento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86600" y="405993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MB WAY simulado. Apple Pay marcado como em breve.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6537960" y="5074920"/>
            <a:ext cx="4846320" cy="960120"/>
          </a:xfrm>
          <a:prstGeom prst="roundRect">
            <a:avLst>
              <a:gd name="adj" fmla="val 4762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0"/>
          <p:cNvSpPr/>
          <p:nvPr/>
        </p:nvSpPr>
        <p:spPr>
          <a:xfrm>
            <a:off x="6720840" y="5257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exclusivo na confirmação.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720840" y="5559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pós-compra começa assim que o pagamento é validado.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CONFIRMAÇÃO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 pós-compra começa aqui.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486400" cy="3730752"/>
          </a:xfrm>
          <a:prstGeom prst="roundRect">
            <a:avLst>
              <a:gd name="adj" fmla="val 735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crops\confirmacao-top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549908"/>
            <a:ext cx="5404104" cy="36484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5440680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868680" y="55504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EXCLUSIVO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514600" y="55046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UFFA-7K3M-9QX2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o que o cliente leva.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46520" y="21762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6647688" y="2103120"/>
            <a:ext cx="473659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 de encomenda para identificar o pedido.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46520" y="2889504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6647688" y="2816352"/>
            <a:ext cx="473659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exclusivo para entrar no portal.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46520" y="360273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6647688" y="3529584"/>
            <a:ext cx="473659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rastreio e transportador.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46520" y="4315968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6647688" y="4242816"/>
            <a:ext cx="473659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autenticidade por cada par.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46520" y="5074920"/>
            <a:ext cx="4937760" cy="960120"/>
          </a:xfrm>
          <a:prstGeom prst="roundRect">
            <a:avLst>
              <a:gd name="adj" fmla="val 4762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0"/>
          <p:cNvSpPr/>
          <p:nvPr/>
        </p:nvSpPr>
        <p:spPr>
          <a:xfrm>
            <a:off x="6675120" y="5257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o código.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75120" y="5559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CB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chave para acompanhar tudo.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PORTAL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 par não desaparece.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669280" cy="2953512"/>
          </a:xfrm>
          <a:prstGeom prst="roundRect">
            <a:avLst>
              <a:gd name="adj" fmla="val 929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crops\rastreio-top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549908"/>
            <a:ext cx="5586984" cy="2871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17136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· envio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0080" y="4709160"/>
            <a:ext cx="5669280" cy="1234440"/>
          </a:xfrm>
          <a:prstGeom prst="roundRect">
            <a:avLst>
              <a:gd name="adj" fmla="val 3704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868680" y="491947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DADOS. SEM CONTA.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68680" y="5193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  +  contacto  +  código exclusivo.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555955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Sessão de 30 minutos, com bloqueio após cinco tentativas.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658368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Acompanhar sem ansiedade.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83680" y="21762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6784848" y="2103120"/>
            <a:ext cx="46451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atual e linha temporal completa.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2889504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6784848" y="2816352"/>
            <a:ext cx="46451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Previsão, transportador e código de rastreio.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0" y="360273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6784848" y="3529584"/>
            <a:ext cx="46451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Envio ao domicílio ou recolha na loja.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0" y="4315968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0"/>
          <p:cNvSpPr/>
          <p:nvPr/>
        </p:nvSpPr>
        <p:spPr>
          <a:xfrm>
            <a:off x="6784848" y="4242816"/>
            <a:ext cx="46451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Confirmação de receção ou recolha no fim.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83680" y="5074920"/>
            <a:ext cx="4800600" cy="960120"/>
          </a:xfrm>
          <a:prstGeom prst="roundRect">
            <a:avLst>
              <a:gd name="adj" fmla="val 4762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2"/>
          <p:cNvSpPr/>
          <p:nvPr/>
        </p:nvSpPr>
        <p:spPr>
          <a:xfrm>
            <a:off x="6812280" y="5257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conta. Sem password.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12280" y="55595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CB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 o que o comprador já tem.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AUTENTICIDADE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prova de autenticidade.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760720" cy="2788920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crops\verificar-resultado-v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549908"/>
            <a:ext cx="5678424" cy="2706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35254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 válido · /verificar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0080" y="4526280"/>
            <a:ext cx="57607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2" name="Image 1" descr="C:\Users\devel\Downloads\uffastore.pt\uffa\docs\assets\screenshots\crops\verificar-invalido-v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1228" y="4567428"/>
            <a:ext cx="5678424" cy="1289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595274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inválido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67512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par tem uma identidade.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675120" y="21762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2"/>
          <p:cNvSpPr/>
          <p:nvPr/>
        </p:nvSpPr>
        <p:spPr>
          <a:xfrm>
            <a:off x="6876288" y="2103120"/>
            <a:ext cx="45537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único por par, gerado no checkout.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675120" y="2889504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4"/>
          <p:cNvSpPr/>
          <p:nvPr/>
        </p:nvSpPr>
        <p:spPr>
          <a:xfrm>
            <a:off x="6876288" y="2816352"/>
            <a:ext cx="45537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 UFFA-AUTH-XXXX-XXXX.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75120" y="360273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6"/>
          <p:cNvSpPr/>
          <p:nvPr/>
        </p:nvSpPr>
        <p:spPr>
          <a:xfrm>
            <a:off x="6876288" y="3529584"/>
            <a:ext cx="45537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pública em /verificar.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120" y="4315968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18"/>
          <p:cNvSpPr/>
          <p:nvPr/>
        </p:nvSpPr>
        <p:spPr>
          <a:xfrm>
            <a:off x="6876288" y="4242816"/>
            <a:ext cx="45537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revelar nome, contacto ou morada.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675120" y="5074920"/>
            <a:ext cx="4709160" cy="960120"/>
          </a:xfrm>
          <a:prstGeom prst="roundRect">
            <a:avLst>
              <a:gd name="adj" fmla="val 4762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0"/>
          <p:cNvSpPr/>
          <p:nvPr/>
        </p:nvSpPr>
        <p:spPr>
          <a:xfrm>
            <a:off x="6903720" y="5257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par pode ser partilhado.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903720" y="555955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CB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prova também.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OPERAÇÕES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Gerir sem folhas de cálculo.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669280" cy="4325112"/>
          </a:xfrm>
          <a:prstGeom prst="roundRect">
            <a:avLst>
              <a:gd name="adj" fmla="val 634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crops\operacoes-painel-foco-v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549908"/>
            <a:ext cx="5586984" cy="42428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888736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/operacoes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8368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equipa vê o mesmo que o cliente.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83680" y="21762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6784848" y="2103120"/>
            <a:ext cx="46451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Indicadores, fila e pesquisa por encomenda ou contacto.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2889504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6784848" y="2816352"/>
            <a:ext cx="46451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Estado, previsão, rastreio, transportador e nota pública.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83680" y="360273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6784848" y="3529584"/>
            <a:ext cx="46451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Avançar para o estado seguinte sem saltos.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4315968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6784848" y="4242816"/>
            <a:ext cx="46451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Credenciais do cliente copiáveis para apoio.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0" y="5074920"/>
            <a:ext cx="4800600" cy="960120"/>
          </a:xfrm>
          <a:prstGeom prst="roundRect">
            <a:avLst>
              <a:gd name="adj" fmla="val 4762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6812280" y="5257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Chave demo: UFFA-OPS-2026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12280" y="55595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alteração aparece no portal do cliente.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MOBILE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mesma experiência, no bolso.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1874520" cy="4059936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0" descr="C:\Users\devel\Downloads\uffastore.pt\uffa\docs\assets\screenshots\crops\mobile-home-t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" y="1549908"/>
            <a:ext cx="1792224" cy="3977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6235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88920" y="1508760"/>
            <a:ext cx="1874520" cy="4059936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2" name="Image 1" descr="C:\Users\devel\Downloads\uffastore.pt\uffa\docs\assets\screenshots\crops\mobile-catalogo-t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30068" y="1549908"/>
            <a:ext cx="1792224" cy="3977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56235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937760" y="1508760"/>
            <a:ext cx="1874520" cy="4059936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5" name="Image 2" descr="C:\Users\devel\Downloads\uffastore.pt\uffa\docs\assets\screenshots\crops\mobile-produto-to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78908" y="1549908"/>
            <a:ext cx="1792224" cy="3977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37760" y="56235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Produto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7269480" y="16002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C97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390 px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7269480" y="2212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Viewport mobile validado.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69480" y="28620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5"/>
          <p:cNvSpPr/>
          <p:nvPr/>
        </p:nvSpPr>
        <p:spPr>
          <a:xfrm>
            <a:off x="7470648" y="2788920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 e menu mobile próprios.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269480" y="3520440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17"/>
          <p:cNvSpPr/>
          <p:nvPr/>
        </p:nvSpPr>
        <p:spPr>
          <a:xfrm>
            <a:off x="7470648" y="34472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e grelha empilhados.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269480" y="4178808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19"/>
          <p:cNvSpPr/>
          <p:nvPr/>
        </p:nvSpPr>
        <p:spPr>
          <a:xfrm>
            <a:off x="7470648" y="4105656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Galeria e tamanhos ao alcance do polegar.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269480" y="483717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1"/>
          <p:cNvSpPr/>
          <p:nvPr/>
        </p:nvSpPr>
        <p:spPr>
          <a:xfrm>
            <a:off x="7470648" y="4764024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Carrinho, checkout e portal responsivos.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269480" y="5166360"/>
            <a:ext cx="4160520" cy="822960"/>
          </a:xfrm>
          <a:prstGeom prst="roundRect">
            <a:avLst>
              <a:gd name="adj" fmla="val 5556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3"/>
          <p:cNvSpPr/>
          <p:nvPr/>
        </p:nvSpPr>
        <p:spPr>
          <a:xfrm>
            <a:off x="7452360" y="53218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experiência.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7452360" y="55961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CB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instalar nada.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2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TECNOLOGIA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Simples na demo, pronto para produção.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O site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394960" cy="402336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896112" y="1737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DEMONSTRAÇÃO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6112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React + dados locais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96112" y="28163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1097280" y="2743200"/>
            <a:ext cx="45537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TanStack Start.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" y="33192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1097280" y="3246120"/>
            <a:ext cx="45537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e componentes acessíveis.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382219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1097280" y="3749040"/>
            <a:ext cx="45537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 / sessionStorage.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" y="432511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1097280" y="4251960"/>
            <a:ext cx="45537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seed e reset no painel.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" y="482803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1097280" y="4754880"/>
            <a:ext cx="45537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backend na demonstração.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1508760"/>
            <a:ext cx="5120640" cy="4023360"/>
          </a:xfrm>
          <a:prstGeom prst="roundRect">
            <a:avLst>
              <a:gd name="adj" fmla="val 1136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6656832" y="1737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PRODUÇÃO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56832" y="2011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API + PostgreSQL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56832" y="28163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6858000" y="2743200"/>
            <a:ext cx="43251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8D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e base de dados.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56832" y="33192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6858000" y="3246120"/>
            <a:ext cx="43251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8D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Level Security.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56832" y="382219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6858000" y="3749040"/>
            <a:ext cx="43251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8D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Pagamentos reais e emails transacionais.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56832" y="432511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6858000" y="4251960"/>
            <a:ext cx="43251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8D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com transportador.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56832" y="482803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6858000" y="4754880"/>
            <a:ext cx="432511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8D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Sessões assinadas e auditoria.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715000"/>
            <a:ext cx="10908792" cy="457200"/>
          </a:xfrm>
          <a:prstGeom prst="roundRect">
            <a:avLst>
              <a:gd name="adj" fmla="val 10000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Text 33"/>
          <p:cNvSpPr/>
          <p:nvPr/>
        </p:nvSpPr>
        <p:spPr>
          <a:xfrm>
            <a:off x="822960" y="5815584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experiência mantém-se. Muda a robustez por trás.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kern="0" spc="24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DEMONSTRAÇÃO  ·  UFFA STORE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OBRIGADO.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D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Sneakers verificados. Recolha em mãos no Porto.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A9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loja completa: marca, descoberta, compra, pós-compra e operação.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atendimento@uffastore.pt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9A9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@uffastore.legit  ·  uffastore.pt  ·  Porto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720840" y="1051560"/>
            <a:ext cx="4800600" cy="507492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995160" y="12984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AO VIVO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95160" y="15727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E0E0E"/>
                </a:solidFill>
                <a:latin typeface="Impact" pitchFamily="34" charset="0"/>
              </a:rPr>
              <a:t>www.uffastore.pt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95160" y="22860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Percurso sugerido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95160" y="2606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89720" y="2606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e categorias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95160" y="30358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/catalogo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89720" y="30358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e grelha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95160" y="346557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/produto/porto-rose-low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34655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Detalhe e tamanhos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38953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/checkout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89720" y="38953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Recolha ou envio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95160" y="43251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/rastreio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89720" y="43251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 cliente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4754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/verificar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89720" y="4754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Autenticidade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95160" y="5184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/operacoes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89720" y="5184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interno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95160" y="57424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Chave demo do painel: UFFA-OPS-2026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1630</Words>
  <Application>Microsoft Office PowerPoint</Application>
  <PresentationFormat>Ecrã Panorâmico</PresentationFormat>
  <Paragraphs>225</Paragraphs>
  <Slides>14</Slides>
  <Notes>14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9" baseType="lpstr">
      <vt:lpstr>Arial</vt:lpstr>
      <vt:lpstr>Consolas</vt:lpstr>
      <vt:lpstr>Impact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UFFA 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UFFA Store — O site</dc:title>
  <dc:subject>O site UFFA Store</dc:subject>
  <dc:creator>UFFA Store</dc:creator>
  <cp:lastModifiedBy>Júnior Ferreira</cp:lastModifiedBy>
  <cp:revision>2</cp:revision>
  <dcterms:created xsi:type="dcterms:W3CDTF">2026-10-30T00:14:45Z</dcterms:created>
  <dcterms:modified xsi:type="dcterms:W3CDTF">2026-10-30T00:39:27Z</dcterms:modified>
</cp:coreProperties>
</file>
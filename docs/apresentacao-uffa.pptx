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Apresentar o portal como extensão da experiência de compra, não como uma página de tracking genérica. Referir que o foco é o cliente que já comprou e a equipa que acompanha a encomenda.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Enquadrar a dor: o pós-compra é o momento de maior ansiedade. Hoje há contacto disperso e pouca visibilidade. A autenticidade é percebida, mas não verificável. A operação atualiza estados sem histórico central.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as três camadas: portal do cliente, prova de autenticidade e painel de operações. A ideia-chave é que partilham o mesmo modelo de dados, por isso o cliente e a equipa veem a mesma verdade.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a jornada: compra, geração de códigos, confirmação, acesso e acompanhamento. Destacar que o código exclusivo é gerado no checkout e que a confirmação explica exatamente o que guardar.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os três fatores e as regras: cinco tentativas, bloqueio de 60 segundos e sessão de 30 minutos. O número pode ser escrito apenas com os cinco dígitos. O código exclusivo é a chave, mas não chega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dashboard: estado, histórico, previsão, transportador, rastreio, resumo e itens. Sublinhar a ação de confirmar receção e o facto de o histórico ser visível ao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os cinco estados do envio. Explicar que cada transição gera um evento com data/hora e que o histórico é visível. O estado Cancelada existe à parte e não faz parte do fluxo linear.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fluxo de recolha, mais curto do que o envio. Destacar a morada, a data limite, a nota da loja e a confirmação de recolha. Não há rastreio nem portes.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cada par tem um código e um número de série. A verificação é pública e não revela dados pessoais. Mostrar o resultado válido e o inválido. É a mesma lógica de certificação do OrbitTrack, adaptada a sneakers.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painel: indicadores, pesquisa, filtro, fila e editor. Explicar o botão Avançar para, a nota pública e o histórico. Referir que a chave é de demonstração e que em produção há autenticação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as duas capturas mobile: topo e itens. Explicar que a linha temporal passa a vertical, os cartões empilham e as ações ficam ao alcance do polegar. O portal foi desenhado mobile-first.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diferença entre demo e produção. A demo corre no browser com dados locais. Em produção, o modelo passa para API e PostgreSQL com RLS, códigos em hash, sessões assinadas, emails e integração com o transportador.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o checklist de produção. A demo prova a experiência; o trabalho crítico é segurança: validação no servidor, códigos em hash, limites de tentativas, autenticação da equipa, auditoria e RGPD.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Fecho. Repetir a mensagem central: o par não desaparece depois do checkout. Deixar as credenciais no ecrã e passar à demonstração ao vivo. Agradecer.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868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PORTO  ·  PÓS-COMPRA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88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PORTAL DE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88000"/>
              </a:lnSpc>
              <a:buNone/>
            </a:pPr>
            <a:r>
              <a:rPr lang="en-US" sz="4600" dirty="0">
                <a:solidFill>
                  <a:srgbClr val="C9789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ENCOMENDAS.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D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checkout à recolha, com exclusividade verificável.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1005840" cy="4572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2336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BF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área de cliente para acompanhar envio ou recolha, confirmar a receção e validar a autenticidade de cada par.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6199632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74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Documentação e demonstração  ·  2026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315200" y="868680"/>
            <a:ext cx="4160520" cy="544068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pic>
        <p:nvPicPr>
          <p:cNvPr id="11" name="Image 0" descr="C:\Users\devel\Downloads\uffastore.pt\uffa\src\assets\e44536b4-0486-4401-9327-8f300ee117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9792" y="1033272"/>
            <a:ext cx="3840480" cy="51206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321040" y="571500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21040" y="57150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PORTO ROSE LOW  ·  129 €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CONTEXTO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0E0E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 cliente compra. E depois?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502920" cy="4572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5D6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Portal de Encomendas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55321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8562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1810512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Falta de visibilidade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80160" y="20756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cliente não sabe se o par saiu, onde está ou quando chega.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40080" y="2624328"/>
            <a:ext cx="55321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7889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80160" y="2743200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Contacto disperso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80160" y="300837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Dúvidas divididas entre email, DM e telefone, sem histórico comum.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40080" y="3557016"/>
            <a:ext cx="55321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721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80160" y="3675888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Autenticidade percebida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80160" y="394106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par é exclusivo, mas não existe uma prova verificável para partilhar.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40080" y="4489704"/>
            <a:ext cx="55321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654296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80160" y="4608576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Operação manual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80160" y="48737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Estados atualizados sem registo central nem visão do que o cliente vê.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400800" y="1737360"/>
            <a:ext cx="5166360" cy="155448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</p:sp>
      <p:pic>
        <p:nvPicPr>
          <p:cNvPr id="25" name="Image 0" descr="C:\Users\devel\Downloads\uffastore.pt\uffa\docs\assets\screenshots\02-home-portal-pro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1948" y="1778508"/>
            <a:ext cx="5084064" cy="147218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400800" y="3346704"/>
            <a:ext cx="5166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de portal na home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400800" y="3611880"/>
            <a:ext cx="5166360" cy="2148840"/>
          </a:xfrm>
          <a:prstGeom prst="roundRect">
            <a:avLst>
              <a:gd name="adj" fmla="val 2128"/>
            </a:avLst>
          </a:prstGeom>
          <a:solidFill>
            <a:srgbClr val="F4E2E9"/>
          </a:solidFill>
          <a:ln w="9525">
            <a:solidFill>
              <a:srgbClr val="F4E2E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75120" y="38221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9E4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DIAGNÓSTICO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675120" y="4114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momento de maior ansiedade é entre o pagamento e a entrega.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675120" y="4892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portal responde antes de o cliente perguntar — e dá à equipa uma fonte única de verdade.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SOLUÇÃO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0E0E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Um portal. Três garantias.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502920" cy="4572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5D6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Portal de Encomendas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557784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91640"/>
            <a:ext cx="91440" cy="1024128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8379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C9789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08760" y="18288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do cliente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213055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Estado, rastreio, previsão, histórico e confirmação de receção ou recolha.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2862072"/>
            <a:ext cx="557784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2072"/>
            <a:ext cx="91440" cy="1024128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0083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C9789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508760" y="29992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Prova de autenticidade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30098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código único por par, verificável publicamente sem expor o comprador.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4032504"/>
            <a:ext cx="557784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032504"/>
            <a:ext cx="91440" cy="1024128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178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C9789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508760" y="416966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Painel de operações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08760" y="44714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equipa atualiza estados, rastreio e notas; cada alteração fica registada.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1691640"/>
            <a:ext cx="5120640" cy="2999232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</p:sp>
      <p:pic>
        <p:nvPicPr>
          <p:cNvPr id="24" name="Image 0" descr="C:\Users\devel\Downloads\uffastore.pt\uffa\docs\assets\screenshots\crops\rastreio-detalh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1948" y="1732788"/>
            <a:ext cx="5038344" cy="291693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400800" y="4745736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do cliente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40080" y="5166360"/>
            <a:ext cx="10908792" cy="841248"/>
          </a:xfrm>
          <a:prstGeom prst="roundRect">
            <a:avLst>
              <a:gd name="adj" fmla="val 5435"/>
            </a:avLst>
          </a:prstGeom>
          <a:solidFill>
            <a:srgbClr val="0E0E0E"/>
          </a:solidFill>
          <a:ln w="9525">
            <a:solidFill>
              <a:srgbClr val="0E0E0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68680" y="5376672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três camadas partilham o mesmo modelo de dados — e a mesma linguagem UFFA.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JORNADA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0E0E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 código nasce no checkout.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502920" cy="4572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5D6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Portal de Encomendas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700784"/>
            <a:ext cx="384048" cy="384048"/>
          </a:xfrm>
          <a:prstGeom prst="ellipse">
            <a:avLst/>
          </a:prstGeom>
          <a:solidFill>
            <a:srgbClr val="0E0E0E"/>
          </a:solidFill>
          <a:ln w="12700">
            <a:solidFill>
              <a:srgbClr val="0E0E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00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166420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19202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Envio para casa ou recolha gratuita no Porto.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40080" y="2551176"/>
            <a:ext cx="384048" cy="384048"/>
          </a:xfrm>
          <a:prstGeom prst="ellipse">
            <a:avLst/>
          </a:prstGeom>
          <a:solidFill>
            <a:srgbClr val="0E0E0E"/>
          </a:solidFill>
          <a:ln w="12700">
            <a:solidFill>
              <a:srgbClr val="0E0E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511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25146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Geração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77063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Número, código exclusivo, autenticidade e rastreio.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40080" y="3401568"/>
            <a:ext cx="384048" cy="384048"/>
          </a:xfrm>
          <a:prstGeom prst="ellipse">
            <a:avLst/>
          </a:prstGeom>
          <a:solidFill>
            <a:srgbClr val="0E0E0E"/>
          </a:solidFill>
          <a:ln w="12700">
            <a:solidFill>
              <a:srgbClr val="0E0E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01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336499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Confirmação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62102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 passos claros e código para guardar.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40080" y="4251960"/>
            <a:ext cx="384048" cy="384048"/>
          </a:xfrm>
          <a:prstGeom prst="ellipse">
            <a:avLst/>
          </a:prstGeom>
          <a:solidFill>
            <a:srgbClr val="0E0E0E"/>
          </a:solidFill>
          <a:ln w="12700">
            <a:solidFill>
              <a:srgbClr val="0E0E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51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421538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Acesso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447141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Três dados. Sem conta, sem password.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40080" y="5102352"/>
            <a:ext cx="384048" cy="384048"/>
          </a:xfrm>
          <a:prstGeom prst="ellipse">
            <a:avLst/>
          </a:prstGeom>
          <a:solidFill>
            <a:srgbClr val="0E0E0E"/>
          </a:solidFill>
          <a:ln w="12700">
            <a:solidFill>
              <a:srgbClr val="0E0E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02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506577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Acompanhamento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532180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Estado, histórico e confirmação final.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943600" y="1737360"/>
            <a:ext cx="5577840" cy="2185416"/>
          </a:xfrm>
          <a:prstGeom prst="roundRect">
            <a:avLst>
              <a:gd name="adj" fmla="val 1255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</p:sp>
      <p:pic>
        <p:nvPicPr>
          <p:cNvPr id="29" name="Image 0" descr="C:\Users\devel\Downloads\uffastore.pt\uffa\docs\assets\screenshots\crops\confirmacao-codigo-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4748" y="1778508"/>
            <a:ext cx="5495544" cy="210312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943600" y="3977640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Confirmação com código exclusivo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943600" y="4709160"/>
            <a:ext cx="5577840" cy="658368"/>
          </a:xfrm>
          <a:prstGeom prst="roundRect">
            <a:avLst>
              <a:gd name="adj" fmla="val 6944"/>
            </a:avLst>
          </a:prstGeom>
          <a:solidFill>
            <a:srgbClr val="F4E2E9"/>
          </a:solidFill>
          <a:ln w="9525">
            <a:solidFill>
              <a:srgbClr val="F4E2E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72200" y="480974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9E4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EXCLUSIVO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7818120" y="47731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0E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UFFA-7K3M-9QX2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943600" y="5532120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Gerado no checkout e associado à encomenda.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ACESSO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0E0E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Três dados. Zero contas.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502920" cy="4572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5D6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Portal de Encomendas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53949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74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81051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Número da encomenda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34440" y="208483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C6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UFFA-48217  ·  aceita 48217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679192"/>
            <a:ext cx="53949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8620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79806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Contacto da compra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34440" y="307238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C6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demo@uffa.pt  ·  email ou telefone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666744"/>
            <a:ext cx="53949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84962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37856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exclusivo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34440" y="405993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C6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UFFA-7K3M-9QX2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1691640" cy="960120"/>
          </a:xfrm>
          <a:prstGeom prst="roundRect">
            <a:avLst>
              <a:gd name="adj" fmla="val 4762"/>
            </a:avLst>
          </a:prstGeom>
          <a:solidFill>
            <a:srgbClr val="F7EFEB"/>
          </a:solidFill>
          <a:ln w="9525">
            <a:solidFill>
              <a:srgbClr val="F7EF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91947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9E4E6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9808" y="53675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tentativas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468880" y="4846320"/>
            <a:ext cx="1691640" cy="960120"/>
          </a:xfrm>
          <a:prstGeom prst="roundRect">
            <a:avLst>
              <a:gd name="adj" fmla="val 4762"/>
            </a:avLst>
          </a:prstGeom>
          <a:solidFill>
            <a:srgbClr val="F7EFEB"/>
          </a:solidFill>
          <a:ln w="9525">
            <a:solidFill>
              <a:srgbClr val="F7EF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78608" y="491947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9E4E6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60 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578608" y="53675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bloqueio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97680" y="4846320"/>
            <a:ext cx="1691640" cy="960120"/>
          </a:xfrm>
          <a:prstGeom prst="roundRect">
            <a:avLst>
              <a:gd name="adj" fmla="val 4762"/>
            </a:avLst>
          </a:prstGeom>
          <a:solidFill>
            <a:srgbClr val="F7EFEB"/>
          </a:solidFill>
          <a:ln w="9525">
            <a:solidFill>
              <a:srgbClr val="F7EF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07408" y="491947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9E4E6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30 min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407408" y="53675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sessão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355080" y="1691640"/>
            <a:ext cx="5212080" cy="3255264"/>
          </a:xfrm>
          <a:prstGeom prst="roundRect">
            <a:avLst>
              <a:gd name="adj" fmla="val 843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</p:sp>
      <p:pic>
        <p:nvPicPr>
          <p:cNvPr id="30" name="Image 0" descr="C:\Users\devel\Downloads\uffastore.pt\uffa\docs\assets\screenshots\crops\rastreio-acesso-to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6228" y="1732788"/>
            <a:ext cx="5129784" cy="317296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355080" y="5001768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Formulário em /rastreio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355080" y="5166360"/>
            <a:ext cx="5212080" cy="658368"/>
          </a:xfrm>
          <a:prstGeom prst="roundRect">
            <a:avLst>
              <a:gd name="adj" fmla="val 6944"/>
            </a:avLst>
          </a:prstGeom>
          <a:solidFill>
            <a:srgbClr val="0E0E0E"/>
          </a:solidFill>
          <a:ln w="9525">
            <a:solidFill>
              <a:srgbClr val="0E0E0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83680" y="535838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conta. Sem password. Só o que o comprador já tem.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ENVIO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0E0E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Tudo o que o cliente precisa de saber.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502920" cy="4572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5D6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Portal de Encomendas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6720840" cy="3502152"/>
          </a:xfrm>
          <a:prstGeom prst="roundRect">
            <a:avLst>
              <a:gd name="adj" fmla="val 783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</p:sp>
      <p:pic>
        <p:nvPicPr>
          <p:cNvPr id="9" name="Image 0" descr="C:\Users\devel\Downloads\uffastore.pt\uffa\docs\assets\screenshots\crops\rastreio-to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1732788"/>
            <a:ext cx="6638544" cy="34198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48656"/>
            <a:ext cx="6720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de envio · /rastreio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726680" y="185623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27848" y="1783080"/>
            <a:ext cx="36393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atual e linha temporal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726680" y="2423160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27848" y="2350008"/>
            <a:ext cx="36393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Previsão e transportador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26680" y="2990088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27848" y="2916936"/>
            <a:ext cx="36393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rastreio copiável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726680" y="3557016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27848" y="3483864"/>
            <a:ext cx="36393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Resumo, data e pagamento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726680" y="4123944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27848" y="4050792"/>
            <a:ext cx="36393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Itens com autenticidade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726680" y="4800600"/>
            <a:ext cx="3840480" cy="1143000"/>
          </a:xfrm>
          <a:prstGeom prst="roundRect">
            <a:avLst>
              <a:gd name="adj" fmla="val 4000"/>
            </a:avLst>
          </a:prstGeom>
          <a:solidFill>
            <a:srgbClr val="F4E2E9"/>
          </a:solidFill>
          <a:ln w="9525">
            <a:solidFill>
              <a:srgbClr val="F4E2E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495604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9E4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CONFIRMAR RECEÇÃO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955280" y="52120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Disponível até ao estado final. Fecha a encomenda e atualiza o histórico.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FLUXO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0E0E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Confirmada  →  Entregue.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502920" cy="4572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5D6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Portal de Encomendas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31720" y="2560320"/>
            <a:ext cx="585216" cy="0"/>
          </a:xfrm>
          <a:prstGeom prst="line">
            <a:avLst/>
          </a:prstGeom>
          <a:noFill/>
          <a:ln w="27940">
            <a:solidFill>
              <a:srgbClr val="E5D6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402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4028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CONFIRMADA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777240" y="2971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Pagamento validado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71416" y="2560320"/>
            <a:ext cx="585216" cy="0"/>
          </a:xfrm>
          <a:prstGeom prst="line">
            <a:avLst/>
          </a:prstGeom>
          <a:noFill/>
          <a:ln w="27940">
            <a:solidFill>
              <a:srgbClr val="E5D6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16936" y="22402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16936" y="224028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PREPARAÇÃO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2916936" y="2971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Equipa UFFA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611112" y="2560320"/>
            <a:ext cx="585216" cy="0"/>
          </a:xfrm>
          <a:prstGeom prst="line">
            <a:avLst/>
          </a:prstGeom>
          <a:noFill/>
          <a:ln w="27940">
            <a:solidFill>
              <a:srgbClr val="E5D6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56632" y="22402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56632" y="224028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ENVIADA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5056632" y="2971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Entregue ao transportador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750808" y="2560320"/>
            <a:ext cx="585216" cy="0"/>
          </a:xfrm>
          <a:prstGeom prst="line">
            <a:avLst/>
          </a:prstGeom>
          <a:noFill/>
          <a:ln w="27940">
            <a:solidFill>
              <a:srgbClr val="E5D6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96328" y="22402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96328" y="224028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TRÂNSITO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7196328" y="2971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Centro de distribuição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336024" y="22402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97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36024" y="224028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ENTREGUE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9336024" y="2971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Confirmação do cliente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40080" y="4069080"/>
            <a:ext cx="3520440" cy="1234440"/>
          </a:xfrm>
          <a:prstGeom prst="roundRect">
            <a:avLst>
              <a:gd name="adj" fmla="val 3704"/>
            </a:avLst>
          </a:prstGeom>
          <a:solidFill>
            <a:srgbClr val="F7EFEB"/>
          </a:solidFill>
          <a:ln w="9525">
            <a:solidFill>
              <a:srgbClr val="F7EF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251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Evento automático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68680" y="4572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transição acrescenta data/hora ao histórico.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4297680" y="4069080"/>
            <a:ext cx="3520440" cy="1234440"/>
          </a:xfrm>
          <a:prstGeom prst="roundRect">
            <a:avLst>
              <a:gd name="adj" fmla="val 3704"/>
            </a:avLst>
          </a:prstGeom>
          <a:solidFill>
            <a:srgbClr val="F7EFEB"/>
          </a:solidFill>
          <a:ln w="9525">
            <a:solidFill>
              <a:srgbClr val="F7EF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26280" y="4251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Histórico visível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26280" y="4572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cliente vê o percurso completo, não só o estado atual.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7955280" y="4069080"/>
            <a:ext cx="3520440" cy="1234440"/>
          </a:xfrm>
          <a:prstGeom prst="roundRect">
            <a:avLst>
              <a:gd name="adj" fmla="val 3704"/>
            </a:avLst>
          </a:prstGeom>
          <a:solidFill>
            <a:srgbClr val="F7EFEB"/>
          </a:solidFill>
          <a:ln w="9525">
            <a:solidFill>
              <a:srgbClr val="F7EF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83880" y="4251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Cancelada à parte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183880" y="4572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independente, aplicável pela equipa em qualquer momento.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640080" y="56692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estado final desativa a confirmação de receção. O histórico mantém-se disponível.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RECOLHA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0E0E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Pronta para recolha.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502920" cy="4572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5D6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Portal de Encomendas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5943600" cy="301752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</p:sp>
      <p:pic>
        <p:nvPicPr>
          <p:cNvPr id="9" name="Image 0" descr="C:\Users\devel\Downloads\uffastore.pt\uffa\docs\assets\screenshots\crops\rastreio-recolha-to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1732788"/>
            <a:ext cx="5861304" cy="29352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476402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de recolha · UFFA-73104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40080" y="5074920"/>
            <a:ext cx="5943600" cy="868680"/>
          </a:xfrm>
          <a:prstGeom prst="roundRect">
            <a:avLst>
              <a:gd name="adj" fmla="val 5263"/>
            </a:avLst>
          </a:prstGeom>
          <a:solidFill>
            <a:srgbClr val="F7EFEB"/>
          </a:solidFill>
          <a:ln w="9525">
            <a:solidFill>
              <a:srgbClr val="F7EF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52578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portes. O par fica reservado na loja até à data indicada.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903720" y="1737360"/>
            <a:ext cx="347472" cy="347472"/>
          </a:xfrm>
          <a:prstGeom prst="ellipse">
            <a:avLst/>
          </a:prstGeom>
          <a:solidFill>
            <a:srgbClr val="0E0E0E"/>
          </a:solidFill>
          <a:ln w="12700">
            <a:solidFill>
              <a:srgbClr val="0E0E0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03720" y="1737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424928" y="16916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Confirmada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424928" y="19476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Pagamento e encomenda registados.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6903720" y="2633472"/>
            <a:ext cx="347472" cy="347472"/>
          </a:xfrm>
          <a:prstGeom prst="ellipse">
            <a:avLst/>
          </a:prstGeom>
          <a:solidFill>
            <a:srgbClr val="0E0E0E"/>
          </a:solidFill>
          <a:ln w="12700">
            <a:solidFill>
              <a:srgbClr val="0E0E0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03720" y="26334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424928" y="25877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preparação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424928" y="284378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par é separado e verificado.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6903720" y="3529584"/>
            <a:ext cx="347472" cy="347472"/>
          </a:xfrm>
          <a:prstGeom prst="ellipse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03720" y="35295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424928" y="34838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Pronta para recolha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424928" y="37398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Reservado na loja do Porto.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6903720" y="4425696"/>
            <a:ext cx="347472" cy="347472"/>
          </a:xfrm>
          <a:prstGeom prst="ellipse">
            <a:avLst/>
          </a:prstGeom>
          <a:solidFill>
            <a:srgbClr val="0E0E0E"/>
          </a:solidFill>
          <a:ln w="12700">
            <a:solidFill>
              <a:srgbClr val="0E0E0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03720" y="44256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424928" y="43799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Recolhida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424928" y="46360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 confirma a recolha.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6903720" y="5257800"/>
            <a:ext cx="4434840" cy="777240"/>
          </a:xfrm>
          <a:prstGeom prst="roundRect">
            <a:avLst>
              <a:gd name="adj" fmla="val 5882"/>
            </a:avLst>
          </a:prstGeom>
          <a:solidFill>
            <a:srgbClr val="0E0E0E"/>
          </a:solidFill>
          <a:ln w="9525">
            <a:solidFill>
              <a:srgbClr val="0E0E0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32320" y="537667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PORTO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132320" y="55961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Rua de Santa Catarina 112, 4000-447 Porto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AUTENTICIDADE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0E0E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 prova de autenticidade.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502920" cy="4572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5D6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Portal de Encomendas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6537960" cy="2852928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</p:sp>
      <p:pic>
        <p:nvPicPr>
          <p:cNvPr id="9" name="Image 0" descr="C:\Users\devel\Downloads\uffastore.pt\uffa\docs\assets\screenshots\crops\verificar-result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1732788"/>
            <a:ext cx="6455664" cy="27706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4599432"/>
            <a:ext cx="6537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Certificado válido · /verificar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40080" y="4800600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verificação nunca revela nome, contacto ou morada do comprador.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452360" y="185623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53528" y="1783080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gerado no checkout, único por linha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452360" y="2459736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53528" y="2386584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Formato UFFA-AUTH-XXXX-XXXX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452360" y="3063240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53528" y="2990088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Validação pública em /verificar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452360" y="3666744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53528" y="3593592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Produto, tamanho, série, edição e data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452360" y="4800600"/>
            <a:ext cx="4114800" cy="877824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</p:sp>
      <p:pic>
        <p:nvPicPr>
          <p:cNvPr id="21" name="Image 1" descr="C:\Users\devel\Downloads\uffastore.pt\uffa\docs\assets\screenshots\crops\verificar-invali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508" y="4841748"/>
            <a:ext cx="4032504" cy="7955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OPERAÇÕES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0E0E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Gerir sem folhas de cálculo.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502920" cy="4572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5D6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Portal de Encomendas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5669280" cy="4215384"/>
          </a:xfrm>
          <a:prstGeom prst="roundRect">
            <a:avLst>
              <a:gd name="adj" fmla="val 651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</p:sp>
      <p:pic>
        <p:nvPicPr>
          <p:cNvPr id="9" name="Image 0" descr="C:\Users\devel\Downloads\uffastore.pt\uffa\docs\assets\screenshots\crops\operacoes-painel-fo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1732788"/>
            <a:ext cx="5586984" cy="41330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961888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Painel /operacoes · fila e editor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858000" y="1691640"/>
            <a:ext cx="1920240" cy="3502152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</p:sp>
      <p:pic>
        <p:nvPicPr>
          <p:cNvPr id="12" name="Image 1" descr="C:\Users\devel\Downloads\uffastore.pt\uffa\docs\assets\screenshots\crops\operacoes-editor-limp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148" y="1732788"/>
            <a:ext cx="1837944" cy="34198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052560" y="185623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253728" y="1783080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Pesquisa e filtro por estado</a:t>
            </a:r>
            <a:endParaRPr lang="en-US" sz="920" dirty="0"/>
          </a:p>
        </p:txBody>
      </p:sp>
      <p:sp>
        <p:nvSpPr>
          <p:cNvPr id="15" name="Shape 11"/>
          <p:cNvSpPr/>
          <p:nvPr/>
        </p:nvSpPr>
        <p:spPr>
          <a:xfrm>
            <a:off x="9052560" y="2441448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253728" y="2368296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Estado, previsão e nota pública</a:t>
            </a:r>
            <a:endParaRPr lang="en-US" sz="920" dirty="0"/>
          </a:p>
        </p:txBody>
      </p:sp>
      <p:sp>
        <p:nvSpPr>
          <p:cNvPr id="17" name="Shape 13"/>
          <p:cNvSpPr/>
          <p:nvPr/>
        </p:nvSpPr>
        <p:spPr>
          <a:xfrm>
            <a:off x="9052560" y="3026664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253728" y="2953512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Rastreio e transportador</a:t>
            </a:r>
            <a:endParaRPr lang="en-US" sz="920" dirty="0"/>
          </a:p>
        </p:txBody>
      </p:sp>
      <p:sp>
        <p:nvSpPr>
          <p:cNvPr id="19" name="Shape 15"/>
          <p:cNvSpPr/>
          <p:nvPr/>
        </p:nvSpPr>
        <p:spPr>
          <a:xfrm>
            <a:off x="9052560" y="3611880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253728" y="3538728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Avançar para o estado seguinte</a:t>
            </a:r>
            <a:endParaRPr lang="en-US" sz="920" dirty="0"/>
          </a:p>
        </p:txBody>
      </p:sp>
      <p:sp>
        <p:nvSpPr>
          <p:cNvPr id="21" name="Shape 17"/>
          <p:cNvSpPr/>
          <p:nvPr/>
        </p:nvSpPr>
        <p:spPr>
          <a:xfrm>
            <a:off x="9052560" y="4197096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53728" y="4123944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Credenciais do cliente copiáveis</a:t>
            </a:r>
            <a:endParaRPr lang="en-US" sz="920" dirty="0"/>
          </a:p>
        </p:txBody>
      </p:sp>
      <p:sp>
        <p:nvSpPr>
          <p:cNvPr id="23" name="Shape 19"/>
          <p:cNvSpPr/>
          <p:nvPr/>
        </p:nvSpPr>
        <p:spPr>
          <a:xfrm>
            <a:off x="6858000" y="5349240"/>
            <a:ext cx="4663440" cy="475488"/>
          </a:xfrm>
          <a:prstGeom prst="roundRect">
            <a:avLst>
              <a:gd name="adj" fmla="val 9615"/>
            </a:avLst>
          </a:prstGeom>
          <a:solidFill>
            <a:srgbClr val="F4E2E9"/>
          </a:solidFill>
          <a:ln w="9525">
            <a:solidFill>
              <a:srgbClr val="F4E2E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040880" y="544982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E4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Chave demo: UFFA-OPS-2026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858000" y="592531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alteração aparece no portal do cliente.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MOBILE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0E0E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 mesma experiência, no bolso.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502920" cy="4572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5D6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Portal de Encomendas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233172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</p:sp>
      <p:pic>
        <p:nvPicPr>
          <p:cNvPr id="9" name="Image 0" descr="C:\Users\devel\Downloads\uffastore.pt\uffa\docs\assets\screenshots\crops\rastreio-mobile-to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1687068"/>
            <a:ext cx="2249424" cy="45811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46120" y="1645920"/>
            <a:ext cx="2057400" cy="466344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</p:sp>
      <p:pic>
        <p:nvPicPr>
          <p:cNvPr id="11" name="Image 1" descr="C:\Users\devel\Downloads\uffastore.pt\uffa\docs\assets\screenshots\crops\rastreio-mobile-ite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268" y="1687068"/>
            <a:ext cx="1975104" cy="45811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0" y="17830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C9789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390 px</a:t>
            </a:r>
            <a:endParaRPr lang="en-US" sz="3800" dirty="0"/>
          </a:p>
        </p:txBody>
      </p:sp>
      <p:sp>
        <p:nvSpPr>
          <p:cNvPr id="13" name="Text 9"/>
          <p:cNvSpPr/>
          <p:nvPr/>
        </p:nvSpPr>
        <p:spPr>
          <a:xfrm>
            <a:off x="5943600" y="2395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viewport mobile validado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943600" y="290779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144768" y="2834640"/>
            <a:ext cx="52852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Header e menu mobile próprios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943600" y="345643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144768" y="3383280"/>
            <a:ext cx="52852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Linha temporal vertical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943600" y="400507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144768" y="3931920"/>
            <a:ext cx="52852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Cartões empilhados e legíveis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943600" y="455371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144768" y="4480560"/>
            <a:ext cx="52852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Ações ao alcance do polegar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943600" y="510235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144768" y="5029200"/>
            <a:ext cx="52852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Tema claro e escuro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5943600" y="5074920"/>
            <a:ext cx="5486400" cy="868680"/>
          </a:xfrm>
          <a:prstGeom prst="roundRect">
            <a:avLst>
              <a:gd name="adj" fmla="val 5263"/>
            </a:avLst>
          </a:prstGeom>
          <a:solidFill>
            <a:srgbClr val="0E0E0E"/>
          </a:solidFill>
          <a:ln w="9525">
            <a:solidFill>
              <a:srgbClr val="0E0E0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172200" y="52852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mesma experiência. Sem instalar nada.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ARQUITETURA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0E0E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Simples na demo, pronto para produção.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502920" cy="4572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5D6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Portal de Encomendas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4892040" cy="3611880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745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DEMONSTRAÇÃO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212140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E0E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React + dados locais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68680" y="281635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2743200"/>
            <a:ext cx="41879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+ TanStack Start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327355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200400"/>
            <a:ext cx="41879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localStorage / sessionStorage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68680" y="373075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657600"/>
            <a:ext cx="41879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 seed e reset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418795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4114800"/>
            <a:ext cx="41879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Sessão de 30 minutos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" y="464515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9848" y="4572000"/>
            <a:ext cx="41879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backend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75120" y="1691640"/>
            <a:ext cx="4892040" cy="3611880"/>
          </a:xfrm>
          <a:prstGeom prst="roundRect">
            <a:avLst>
              <a:gd name="adj" fmla="val 1266"/>
            </a:avLst>
          </a:prstGeom>
          <a:solidFill>
            <a:srgbClr val="0E0E0E"/>
          </a:solidFill>
          <a:ln w="9525">
            <a:solidFill>
              <a:srgbClr val="0E0E0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18745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PRODUÇÃO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03720" y="212140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API + PostgreSQL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903720" y="281635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04888" y="2743200"/>
            <a:ext cx="41879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e base de dados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03720" y="327355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04888" y="3200400"/>
            <a:ext cx="41879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 Level Security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03720" y="373075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04888" y="3657600"/>
            <a:ext cx="41879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Códigos em hash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03720" y="418795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04888" y="4114800"/>
            <a:ext cx="41879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Sessões assinadas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03720" y="4645152"/>
            <a:ext cx="73152" cy="73152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04888" y="4572000"/>
            <a:ext cx="41879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Emails e transportador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96128" y="3154680"/>
            <a:ext cx="960120" cy="960120"/>
          </a:xfrm>
          <a:prstGeom prst="ellipse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96128" y="315468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40080" y="5486400"/>
            <a:ext cx="10908792" cy="594360"/>
          </a:xfrm>
          <a:prstGeom prst="roundRect">
            <a:avLst>
              <a:gd name="adj" fmla="val 7692"/>
            </a:avLst>
          </a:prstGeom>
          <a:solidFill>
            <a:srgbClr val="F4E2E9"/>
          </a:solidFill>
          <a:ln w="9525">
            <a:solidFill>
              <a:srgbClr val="F4E2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562356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E4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experiência mantém-se. Muda a robustez por trás.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SEGURANÇA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0E0E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Do protótipo ao serviço.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502920" cy="4572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5D6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Portal de Encomendas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256032" cy="256032"/>
          </a:xfrm>
          <a:prstGeom prst="ellipse">
            <a:avLst/>
          </a:prstGeom>
          <a:solidFill>
            <a:srgbClr val="E7F6F0"/>
          </a:solidFill>
          <a:ln w="12700">
            <a:solidFill>
              <a:srgbClr val="E7F6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91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9D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1691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e base de dados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249424"/>
            <a:ext cx="256032" cy="256032"/>
          </a:xfrm>
          <a:prstGeom prst="ellipse">
            <a:avLst/>
          </a:prstGeom>
          <a:solidFill>
            <a:srgbClr val="E7F6F0"/>
          </a:solidFill>
          <a:ln w="12700">
            <a:solidFill>
              <a:srgbClr val="E7F6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311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9D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1560" y="223113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Códigos em hash e rate limiting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788920"/>
            <a:ext cx="256032" cy="256032"/>
          </a:xfrm>
          <a:prstGeom prst="ellipse">
            <a:avLst/>
          </a:prstGeom>
          <a:solidFill>
            <a:srgbClr val="E7F6F0"/>
          </a:solidFill>
          <a:ln w="12700">
            <a:solidFill>
              <a:srgbClr val="E7F6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706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9D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" y="27706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Autenticação da equipa com roles e MFA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328416"/>
            <a:ext cx="256032" cy="256032"/>
          </a:xfrm>
          <a:prstGeom prst="ellipse">
            <a:avLst/>
          </a:prstGeom>
          <a:solidFill>
            <a:srgbClr val="E7F6F0"/>
          </a:solidFill>
          <a:ln w="12700">
            <a:solidFill>
              <a:srgbClr val="E7F6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101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9D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" y="33101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Auditoria imutável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867912"/>
            <a:ext cx="256032" cy="256032"/>
          </a:xfrm>
          <a:prstGeom prst="ellipse">
            <a:avLst/>
          </a:prstGeom>
          <a:solidFill>
            <a:srgbClr val="E7F6F0"/>
          </a:solidFill>
          <a:ln w="12700">
            <a:solidFill>
              <a:srgbClr val="E7F6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496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9D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" y="384962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Emails transacionais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4407408"/>
            <a:ext cx="256032" cy="256032"/>
          </a:xfrm>
          <a:prstGeom prst="ellipse">
            <a:avLst/>
          </a:prstGeom>
          <a:solidFill>
            <a:srgbClr val="E7F6F0"/>
          </a:solidFill>
          <a:ln w="12700">
            <a:solidFill>
              <a:srgbClr val="E7F6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389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9D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" y="4389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Integração com transportador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4946904"/>
            <a:ext cx="256032" cy="256032"/>
          </a:xfrm>
          <a:prstGeom prst="ellipse">
            <a:avLst/>
          </a:prstGeom>
          <a:solidFill>
            <a:srgbClr val="E7F6F0"/>
          </a:solidFill>
          <a:ln w="12700">
            <a:solidFill>
              <a:srgbClr val="E7F6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9286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9D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" y="492861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0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RGPD e retenção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55080" y="1691640"/>
            <a:ext cx="512064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</p:sp>
      <p:pic>
        <p:nvPicPr>
          <p:cNvPr id="30" name="Image 0" descr="C:\Users\devel\Downloads\uffastore.pt\uffa\docs\assets\screenshots\crops\verificar-invali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6228" y="1732788"/>
            <a:ext cx="5038344" cy="1014984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6355080" y="3246120"/>
            <a:ext cx="5120640" cy="224028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9525">
            <a:solidFill>
              <a:srgbClr val="E5D6D0"/>
            </a:solidFill>
            <a:prstDash val="solid"/>
          </a:ln>
        </p:spPr>
      </p:sp>
      <p:pic>
        <p:nvPicPr>
          <p:cNvPr id="32" name="Image 1" descr="C:\Users\devel\Downloads\uffastore.pt\uffa\docs\assets\screenshots\crops\verificar-resulta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228" y="3287268"/>
            <a:ext cx="5038344" cy="2157984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640080" y="5532120"/>
            <a:ext cx="5394960" cy="530352"/>
          </a:xfrm>
          <a:prstGeom prst="roundRect">
            <a:avLst>
              <a:gd name="adj" fmla="val 8621"/>
            </a:avLst>
          </a:prstGeom>
          <a:solidFill>
            <a:srgbClr val="0E0E0E"/>
          </a:solidFill>
          <a:ln w="9525">
            <a:solidFill>
              <a:srgbClr val="0E0E0E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68680" y="56509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Segurança não muda a experiência. Muda a confiança.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7899"/>
          </a:solidFill>
          <a:ln w="12700">
            <a:solidFill>
              <a:srgbClr val="C97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868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DEMONSTRAÇÃO  ·  ACESSOS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88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 PAR NÃO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88000"/>
              </a:lnSpc>
              <a:buNone/>
            </a:pPr>
            <a:r>
              <a:rPr lang="en-US" sz="4400" dirty="0">
                <a:solidFill>
                  <a:srgbClr val="C9789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DESAPARECE.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8CE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portal próprio. Uma prova de autenticidade. Uma operação mais próxima.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66560" y="1005840"/>
            <a:ext cx="4754880" cy="4160520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12344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ACESSO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040880" y="162763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40880" y="18470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0E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UFFA-48217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40880" y="21762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0E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demo@uffa.pt  ·  UFFA-7K3M-9QX2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040880" y="2606040"/>
            <a:ext cx="4114800" cy="0"/>
          </a:xfrm>
          <a:prstGeom prst="line">
            <a:avLst/>
          </a:prstGeom>
          <a:noFill/>
          <a:ln w="12700">
            <a:solidFill>
              <a:srgbClr val="E5D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274320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Recolha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0" y="296265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0E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UFFA-73104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40880" y="32918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0E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demo@uffa.pt  ·  UFFA-2P8N-5RV6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40880" y="3721608"/>
            <a:ext cx="4114800" cy="0"/>
          </a:xfrm>
          <a:prstGeom prst="line">
            <a:avLst/>
          </a:prstGeom>
          <a:noFill/>
          <a:ln w="12700">
            <a:solidFill>
              <a:srgbClr val="E5D6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385876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Operações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40880" y="407822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E4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UFFA-OPS-2026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40880" y="440740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C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Chave de demonstração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2960" y="5074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Obrigado.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22960" y="5623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7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atendimento@uffastore.pt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509760" y="6263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E74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UFFA STORE  ·  PORTO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mpac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UFFA 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UFFA Store — Portal de Encomendas</dc:title>
  <dc:subject>Portal de Encomendas UFFA</dc:subject>
  <dc:creator>UFFA Store</dc:creator>
  <cp:lastModifiedBy>UFFA Store</cp:lastModifiedBy>
  <cp:revision>1</cp:revision>
  <dcterms:created xsi:type="dcterms:W3CDTF">2026-10-29T22:15:12Z</dcterms:created>
  <dcterms:modified xsi:type="dcterms:W3CDTF">2026-10-29T22:15:12Z</dcterms:modified>
</cp:coreProperties>
</file>